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71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2" r:id="rId13"/>
    <p:sldId id="270" r:id="rId14"/>
    <p:sldId id="273" r:id="rId15"/>
    <p:sldId id="267" r:id="rId16"/>
    <p:sldId id="274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3CF1F-909D-4520-BC40-D81DC95334E5}" type="datetimeFigureOut">
              <a:rPr lang="en-IN" smtClean="0"/>
              <a:t>27-08-2026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36F91-B3D7-4C97-8485-3122BB57CB0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6085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D9242-1402-49C1-81CE-5927237BF396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DE15-4B8E-4985-B3F6-347BF9DA2A7F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AAC9F-0AF9-4017-9C14-959B2E4E1221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04189-E767-4F04-8F24-897CBD091429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CEED8-1A9B-455C-8832-96D4D004794C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65D4-1B68-4D03-913A-D35727A31921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356A3-22C7-47B4-9C61-BDE6FA57B3D9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57994-9F42-42F5-9BBB-4DC64C7254B8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FC4D-F926-4C78-81C2-66D0C703B98B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1B00D-C700-4FC7-92F4-F6CDDC908783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00C3-6568-42BA-B7F8-899695938E87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BA4AF-66CE-415A-9401-14D676F4FA80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27F60-0FE6-29A8-E382-56A5E670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572F8-DE45-EF4C-7F77-98480D8EC8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" y="-11062"/>
            <a:ext cx="18278168" cy="102980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8591AA-323B-8FB3-F03A-4945EEF5C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6048" y="342900"/>
            <a:ext cx="16415903" cy="1323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AAFB8F-CB74-39B5-7227-3984F0769680}"/>
              </a:ext>
            </a:extLst>
          </p:cNvPr>
          <p:cNvSpPr txBox="1"/>
          <p:nvPr/>
        </p:nvSpPr>
        <p:spPr>
          <a:xfrm>
            <a:off x="1355572" y="7467484"/>
            <a:ext cx="30716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Govindasamy C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79398-6CF0-F78B-2492-27D3C4B381D2}"/>
              </a:ext>
            </a:extLst>
          </p:cNvPr>
          <p:cNvSpPr txBox="1"/>
          <p:nvPr/>
        </p:nvSpPr>
        <p:spPr>
          <a:xfrm>
            <a:off x="12852531" y="7298206"/>
            <a:ext cx="488236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Juhi Surin (192525148)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Kavya Jasmine V (192521133)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Sana Fatima M (192371082)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Yenike Manasa Sai (192473023)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70243-A6B7-1106-558C-CEA1F91ED226}"/>
              </a:ext>
            </a:extLst>
          </p:cNvPr>
          <p:cNvSpPr txBox="1"/>
          <p:nvPr/>
        </p:nvSpPr>
        <p:spPr>
          <a:xfrm>
            <a:off x="1905000" y="2997244"/>
            <a:ext cx="14859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Virtualized and Traditional Cloud Gaming Infrastructure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177FD-742D-4746-2945-C41F044DB1F7}"/>
              </a:ext>
            </a:extLst>
          </p:cNvPr>
          <p:cNvSpPr txBox="1"/>
          <p:nvPr/>
        </p:nvSpPr>
        <p:spPr>
          <a:xfrm>
            <a:off x="16611600" y="960795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-1</a:t>
            </a:r>
          </a:p>
        </p:txBody>
      </p:sp>
    </p:spTree>
    <p:extLst>
      <p:ext uri="{BB962C8B-B14F-4D97-AF65-F5344CB8AC3E}">
        <p14:creationId xmlns:p14="http://schemas.microsoft.com/office/powerpoint/2010/main" val="1623864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5C615A-07BD-B6B0-7BEB-0A02F87D829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8640A5-173E-88E8-E393-06F5C0D26AA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1E242B-175D-D495-1C2F-4B33CF121A39}"/>
              </a:ext>
            </a:extLst>
          </p:cNvPr>
          <p:cNvSpPr txBox="1"/>
          <p:nvPr/>
        </p:nvSpPr>
        <p:spPr>
          <a:xfrm>
            <a:off x="6229308" y="336699"/>
            <a:ext cx="63434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119BE1-113A-B454-B056-B4857D8F5434}"/>
              </a:ext>
            </a:extLst>
          </p:cNvPr>
          <p:cNvSpPr txBox="1"/>
          <p:nvPr/>
        </p:nvSpPr>
        <p:spPr>
          <a:xfrm>
            <a:off x="1447511" y="1790700"/>
            <a:ext cx="868708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gaming allows users to play games remotely using powerful cloud computing resources.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enables multiple gaming environments to share and manage cloud resources efficiently.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cloud gaming runs applications directly on the available server infrastructure.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compares both approaches using measurable performance parameters.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combines cloud computing with big data analytics for data-driven evaluation.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97841F-D0A7-91CA-EB5F-F4D641E12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9085" y="2111941"/>
            <a:ext cx="7102455" cy="63416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FE270A-3DE2-66C8-96CE-70B9982F5D0B}"/>
              </a:ext>
            </a:extLst>
          </p:cNvPr>
          <p:cNvSpPr txBox="1"/>
          <p:nvPr/>
        </p:nvSpPr>
        <p:spPr>
          <a:xfrm>
            <a:off x="16611600" y="960795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C3B5B-E65D-5223-B37D-617692AACC7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63C1B2-73D4-BED8-9D3F-7B5116CEB7D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BC91E5-0FE7-2613-4252-3450917E921D}"/>
              </a:ext>
            </a:extLst>
          </p:cNvPr>
          <p:cNvSpPr txBox="1"/>
          <p:nvPr/>
        </p:nvSpPr>
        <p:spPr>
          <a:xfrm>
            <a:off x="6614301" y="336699"/>
            <a:ext cx="50593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052B7-40DD-2A1C-1757-ECC95A77E77D}"/>
              </a:ext>
            </a:extLst>
          </p:cNvPr>
          <p:cNvSpPr txBox="1"/>
          <p:nvPr/>
        </p:nvSpPr>
        <p:spPr>
          <a:xfrm>
            <a:off x="1600200" y="2524185"/>
            <a:ext cx="14935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cloud gaming environment for remote game execution and streaming.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both virtualized and traditional gaming environments under comparable conditions.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performance metrics such as latency, FPS, CPU, memory, and network usage.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collected data using big data analytics techniques.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both environments and identify the more efficient infrastructure.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C249BF-C541-0908-276C-4731B6F0E354}"/>
              </a:ext>
            </a:extLst>
          </p:cNvPr>
          <p:cNvSpPr txBox="1"/>
          <p:nvPr/>
        </p:nvSpPr>
        <p:spPr>
          <a:xfrm>
            <a:off x="16611600" y="960795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986007-86E5-DC65-E56D-B308ED0FD1A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F9C43B-FFC5-E2DB-D708-A3F8F1547CD4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038147-72C5-9178-AA52-E8DE5111C5F8}"/>
              </a:ext>
            </a:extLst>
          </p:cNvPr>
          <p:cNvSpPr txBox="1"/>
          <p:nvPr/>
        </p:nvSpPr>
        <p:spPr>
          <a:xfrm>
            <a:off x="4251058" y="157556"/>
            <a:ext cx="97858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6DE34F-4BF8-94B0-C59D-76B5B4B2B6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" t="14416" r="2605" b="7032"/>
          <a:stretch>
            <a:fillRect/>
          </a:stretch>
        </p:blipFill>
        <p:spPr>
          <a:xfrm>
            <a:off x="2109653" y="1511664"/>
            <a:ext cx="13968547" cy="766177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0FCEBE-69EB-2253-2549-7CA862166F11}"/>
              </a:ext>
            </a:extLst>
          </p:cNvPr>
          <p:cNvSpPr txBox="1"/>
          <p:nvPr/>
        </p:nvSpPr>
        <p:spPr>
          <a:xfrm>
            <a:off x="16611600" y="9607952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-4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825504-C63B-9E6B-449B-79F00B7D922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7B126C-13E4-9758-0EE4-F38C8BAD27F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2301A7-F33A-DB18-EAED-A704913B42CA}"/>
              </a:ext>
            </a:extLst>
          </p:cNvPr>
          <p:cNvSpPr txBox="1"/>
          <p:nvPr/>
        </p:nvSpPr>
        <p:spPr>
          <a:xfrm>
            <a:off x="2433062" y="654903"/>
            <a:ext cx="131017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1-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Gaming Infrastructure Setup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1AE9E-9B46-47C8-35F0-9F6F9A127034}"/>
              </a:ext>
            </a:extLst>
          </p:cNvPr>
          <p:cNvSpPr txBox="1"/>
          <p:nvPr/>
        </p:nvSpPr>
        <p:spPr>
          <a:xfrm>
            <a:off x="1395609" y="2682736"/>
            <a:ext cx="1551458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cloud or server environment is configured with the required computing resources.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required operating system, GPU drivers, and gaming software are installed.</a:t>
            </a:r>
          </a:p>
          <a:p>
            <a:pPr lvl="0" algn="just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remote game streaming service is configured for client access.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client device connects to the server through a network connection.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infrastructure is tested to ensure stable game execution and streaming.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B1F784-E789-494F-136C-EF8DE8625E37}"/>
              </a:ext>
            </a:extLst>
          </p:cNvPr>
          <p:cNvSpPr txBox="1"/>
          <p:nvPr/>
        </p:nvSpPr>
        <p:spPr>
          <a:xfrm>
            <a:off x="16611600" y="960795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C154B5-23A0-BCAA-755A-93DF5C91F60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D06E79-E790-8102-7454-DDC902ED8BB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B8DFA3-C4B8-D9A1-6E34-D00E49494E92}"/>
              </a:ext>
            </a:extLst>
          </p:cNvPr>
          <p:cNvSpPr txBox="1"/>
          <p:nvPr/>
        </p:nvSpPr>
        <p:spPr>
          <a:xfrm>
            <a:off x="2433062" y="654903"/>
            <a:ext cx="12654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2-	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Virtualized &amp; Traditional 						Environment Implementation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DB1148-08F4-63EB-8BD4-F92FF79F96F5}"/>
              </a:ext>
            </a:extLst>
          </p:cNvPr>
          <p:cNvSpPr txBox="1"/>
          <p:nvPr/>
        </p:nvSpPr>
        <p:spPr>
          <a:xfrm>
            <a:off x="1219200" y="2775069"/>
            <a:ext cx="15849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environment runs the game directly on the host operating system.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virtualized environment runs the same game inside a virtualized container or environment.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environments are configured with comparable computing and network resources.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game and workload are used to ensure a fair performance comparison.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environments are executed repeatedly to obtain reliable experimental results.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B67C65-A5B4-8042-29DB-688BE5526982}"/>
              </a:ext>
            </a:extLst>
          </p:cNvPr>
          <p:cNvSpPr txBox="1"/>
          <p:nvPr/>
        </p:nvSpPr>
        <p:spPr>
          <a:xfrm>
            <a:off x="16611600" y="960795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BD9E27-CB23-B5C7-017F-5A9820058F8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D57058-2941-D744-0D71-8EA13BCA2FC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52C885-58C0-CD9A-0323-C019073578AE}"/>
              </a:ext>
            </a:extLst>
          </p:cNvPr>
          <p:cNvSpPr txBox="1"/>
          <p:nvPr/>
        </p:nvSpPr>
        <p:spPr>
          <a:xfrm>
            <a:off x="2433063" y="654903"/>
            <a:ext cx="129593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3-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Data Collection &amp; Big 				Data Analytics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9EDED-A3EF-3C19-BA25-0BBA407BC5AB}"/>
              </a:ext>
            </a:extLst>
          </p:cNvPr>
          <p:cNvSpPr txBox="1"/>
          <p:nvPr/>
        </p:nvSpPr>
        <p:spPr>
          <a:xfrm>
            <a:off x="1371600" y="2628900"/>
            <a:ext cx="157734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data is continuously collected from both gaming environments.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such as FPS, latency, CPU, memory, GPU, and bandwidth are recorded.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is stored in structured datasets for further processing.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techniques are used to identify performance patterns and variations.</a:t>
            </a:r>
          </a:p>
          <a:p>
            <a:pPr lvl="0"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are statistically analysed to determine the differences between both environments.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E36EB5-CBDB-557A-4BBA-C0956FD025EB}"/>
              </a:ext>
            </a:extLst>
          </p:cNvPr>
          <p:cNvSpPr txBox="1"/>
          <p:nvPr/>
        </p:nvSpPr>
        <p:spPr>
          <a:xfrm>
            <a:off x="16611600" y="960795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DDF649-95EB-01C5-541A-DF81161BD411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461015-F95A-39EF-516D-0B63CE63D16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220EA5-CDA5-6EF2-5FAB-EE5014F91F2A}"/>
              </a:ext>
            </a:extLst>
          </p:cNvPr>
          <p:cNvSpPr txBox="1"/>
          <p:nvPr/>
        </p:nvSpPr>
        <p:spPr>
          <a:xfrm>
            <a:off x="2433062" y="654903"/>
            <a:ext cx="127166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4-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Analytics Dashboard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759794-38C2-9A13-1F28-5A8C0271180A}"/>
              </a:ext>
            </a:extLst>
          </p:cNvPr>
          <p:cNvSpPr txBox="1"/>
          <p:nvPr/>
        </p:nvSpPr>
        <p:spPr>
          <a:xfrm>
            <a:off x="1154312" y="2682736"/>
            <a:ext cx="1583828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dashboard displays the collected performance metrics.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compare virtualized and traditional environments using different parameters.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charts visualize FPS, latency, resource utilization, and network performance.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highlights performance differences under different workloads.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comparison helps identify the more efficient cloud gaming infrastructure.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6BC0D7-980F-FDF4-B32E-85AF47267584}"/>
              </a:ext>
            </a:extLst>
          </p:cNvPr>
          <p:cNvSpPr txBox="1"/>
          <p:nvPr/>
        </p:nvSpPr>
        <p:spPr>
          <a:xfrm>
            <a:off x="16611600" y="960795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7EE719-E40E-EABB-5B6A-6B48C554514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2E4604-A5DE-4463-CA94-073DEFB416F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DC1814-2EC6-B419-8DD7-388D03348823}"/>
              </a:ext>
            </a:extLst>
          </p:cNvPr>
          <p:cNvSpPr txBox="1"/>
          <p:nvPr/>
        </p:nvSpPr>
        <p:spPr>
          <a:xfrm>
            <a:off x="4688100" y="336699"/>
            <a:ext cx="89117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DISCUSSION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698C3-A7C0-8BEC-8811-A81A85DAC321}"/>
              </a:ext>
            </a:extLst>
          </p:cNvPr>
          <p:cNvSpPr txBox="1"/>
          <p:nvPr/>
        </p:nvSpPr>
        <p:spPr>
          <a:xfrm>
            <a:off x="1154312" y="2476500"/>
            <a:ext cx="1591448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implements both virtualized and traditional cloud gaming environments. </a:t>
            </a:r>
          </a:p>
          <a:p>
            <a:pPr lvl="0" algn="just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 are successfully collected from both environments.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provides measurable differences in gaming and resource performance.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and visualizations clearly represent the performance comparison.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results identify the strengths and limitations of each infrastructure.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63C33-2706-6C7C-D7AB-F521B790847B}"/>
              </a:ext>
            </a:extLst>
          </p:cNvPr>
          <p:cNvSpPr txBox="1"/>
          <p:nvPr/>
        </p:nvSpPr>
        <p:spPr>
          <a:xfrm>
            <a:off x="16611600" y="960795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17E17-F817-9041-499F-F9DA5FB97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109797-56CC-0AED-0018-B76FF4CC4B41}"/>
              </a:ext>
            </a:extLst>
          </p:cNvPr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4BB2FFB-2AB8-0A17-0B4A-4EA48E2D2F74}"/>
              </a:ext>
            </a:extLst>
          </p:cNvPr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254932E-705F-43DA-84ED-849773319692}"/>
              </a:ext>
            </a:extLst>
          </p:cNvPr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00487CB-AE80-A618-6729-C3A0447EAA11}"/>
              </a:ext>
            </a:extLst>
          </p:cNvPr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DBBFCD5-5A9D-3F76-6051-E55FEAE31490}"/>
              </a:ext>
            </a:extLst>
          </p:cNvPr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FE25FE-1C3B-C691-928D-CE5124DA5B5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221FA3-B506-5B69-A27D-5B7D756D495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200A1A-B152-0ACC-6581-0AD09418C445}"/>
              </a:ext>
            </a:extLst>
          </p:cNvPr>
          <p:cNvSpPr txBox="1"/>
          <p:nvPr/>
        </p:nvSpPr>
        <p:spPr>
          <a:xfrm>
            <a:off x="6325949" y="336699"/>
            <a:ext cx="56361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CFFB1B-D8C7-E32C-0F92-1C1FE0713740}"/>
              </a:ext>
            </a:extLst>
          </p:cNvPr>
          <p:cNvSpPr txBox="1"/>
          <p:nvPr/>
        </p:nvSpPr>
        <p:spPr>
          <a:xfrm>
            <a:off x="1338318" y="2244362"/>
            <a:ext cx="1550188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practical comparison between virtualized and traditional infrastructure.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real performance metrics instead of relying only on theoretical analysis.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enables efficient analysis of large performance datasets.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an easy-to-understand visualization of experimental results.</a:t>
            </a:r>
          </a:p>
          <a:p>
            <a:pPr lvl="0"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approach helps identify resource utilization and performance bottlenecks.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2C5B9-7C96-D52A-ED29-C8B26479F0A9}"/>
              </a:ext>
            </a:extLst>
          </p:cNvPr>
          <p:cNvSpPr txBox="1"/>
          <p:nvPr/>
        </p:nvSpPr>
        <p:spPr>
          <a:xfrm>
            <a:off x="16611600" y="960795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-10</a:t>
            </a:r>
          </a:p>
        </p:txBody>
      </p:sp>
    </p:spTree>
    <p:extLst>
      <p:ext uri="{BB962C8B-B14F-4D97-AF65-F5344CB8AC3E}">
        <p14:creationId xmlns:p14="http://schemas.microsoft.com/office/powerpoint/2010/main" val="4127069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48684-1DE4-E2AB-3B34-530BED50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96658B-F912-2E12-C0F6-C7BB46D6F647}"/>
              </a:ext>
            </a:extLst>
          </p:cNvPr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624D624-CC6B-3379-C78A-B3D7E28BA2A2}"/>
              </a:ext>
            </a:extLst>
          </p:cNvPr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A14CC26-FE20-7B83-278E-791C1169609D}"/>
              </a:ext>
            </a:extLst>
          </p:cNvPr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05DEAF6-47CE-4D15-D23B-CF351B78B092}"/>
              </a:ext>
            </a:extLst>
          </p:cNvPr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FCD7F32-46B4-8DB2-F9A2-F754BA0AB679}"/>
              </a:ext>
            </a:extLst>
          </p:cNvPr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AC3253-062D-4DD1-0A8C-16E978B5CEF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07BCB6-9271-49B1-11E0-3FAC66C2D59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72531A-E6E0-08AF-8887-C62D1F71FDD8}"/>
              </a:ext>
            </a:extLst>
          </p:cNvPr>
          <p:cNvSpPr txBox="1"/>
          <p:nvPr/>
        </p:nvSpPr>
        <p:spPr>
          <a:xfrm>
            <a:off x="6137571" y="401741"/>
            <a:ext cx="601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A7B5F9-0FD5-8DB6-2854-681DBDD0376F}"/>
              </a:ext>
            </a:extLst>
          </p:cNvPr>
          <p:cNvSpPr txBox="1"/>
          <p:nvPr/>
        </p:nvSpPr>
        <p:spPr>
          <a:xfrm>
            <a:off x="1240833" y="2633892"/>
            <a:ext cx="1576208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used to evaluate cloud gaming service performance.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help cloud providers optimize computing and GPU resource allocation.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Gaming companies can use the analysis to select suitable deployment environments.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support research on virtualization and cloud resource management.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for testing other resource-intensive cloud applications.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FAA216-7D33-955F-DB3B-3CAD48482A75}"/>
              </a:ext>
            </a:extLst>
          </p:cNvPr>
          <p:cNvSpPr txBox="1"/>
          <p:nvPr/>
        </p:nvSpPr>
        <p:spPr>
          <a:xfrm>
            <a:off x="16611600" y="960795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-11</a:t>
            </a:r>
          </a:p>
        </p:txBody>
      </p:sp>
    </p:spTree>
    <p:extLst>
      <p:ext uri="{BB962C8B-B14F-4D97-AF65-F5344CB8AC3E}">
        <p14:creationId xmlns:p14="http://schemas.microsoft.com/office/powerpoint/2010/main" val="358592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F23E9-9F13-FD6F-4DB1-E9D202696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024598-B7D1-C1EA-8E47-1138A5F2EEB5}"/>
              </a:ext>
            </a:extLst>
          </p:cNvPr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B3DF99B-578D-3BEF-8CFA-0E32ACC00E16}"/>
              </a:ext>
            </a:extLst>
          </p:cNvPr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5538C8B-9E8D-130D-30D6-371DE8670633}"/>
              </a:ext>
            </a:extLst>
          </p:cNvPr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DA4819C-38D6-BF0E-C2C1-89AF29C2F923}"/>
              </a:ext>
            </a:extLst>
          </p:cNvPr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D88FDF4-3A03-FF0F-A1F6-901660289144}"/>
              </a:ext>
            </a:extLst>
          </p:cNvPr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11267F-2EC0-E098-6210-97E8261D5E2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928D5E-81C7-BBFD-6F45-F8F3A6E33A3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797715-B47F-7529-9C22-75BB78FF203A}"/>
              </a:ext>
            </a:extLst>
          </p:cNvPr>
          <p:cNvSpPr txBox="1"/>
          <p:nvPr/>
        </p:nvSpPr>
        <p:spPr>
          <a:xfrm>
            <a:off x="5923815" y="336699"/>
            <a:ext cx="6440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D7DC85-141A-C0ED-1EA8-896ABC5174A3}"/>
              </a:ext>
            </a:extLst>
          </p:cNvPr>
          <p:cNvSpPr txBox="1"/>
          <p:nvPr/>
        </p:nvSpPr>
        <p:spPr>
          <a:xfrm>
            <a:off x="1600201" y="2278355"/>
            <a:ext cx="1530999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to multiple cloud platforms for broader comparison.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prediction can be added to forecast gaming performance under different workloads.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resource allocation can be implemented to improve cloud gaming efficiency.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testing can be expanded to evaluate large-scale cloud gaming scenarios. </a:t>
            </a:r>
          </a:p>
          <a:p>
            <a:pPr marL="342900" lvl="0" indent="-342900" algn="just">
              <a:buFont typeface="+mj-lt"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can be used to optimize latency, resource usage, and scalability.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A4C9A0-8422-CF40-BB4E-EF761419EDB4}"/>
              </a:ext>
            </a:extLst>
          </p:cNvPr>
          <p:cNvSpPr txBox="1"/>
          <p:nvPr/>
        </p:nvSpPr>
        <p:spPr>
          <a:xfrm>
            <a:off x="16611600" y="960795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-12</a:t>
            </a:r>
          </a:p>
        </p:txBody>
      </p:sp>
    </p:spTree>
    <p:extLst>
      <p:ext uri="{BB962C8B-B14F-4D97-AF65-F5344CB8AC3E}">
        <p14:creationId xmlns:p14="http://schemas.microsoft.com/office/powerpoint/2010/main" val="130555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11BFB-C819-17AF-F0D5-659EFE5C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F5237B-C2F1-14F4-64A8-B70BA52F9F2A}"/>
              </a:ext>
            </a:extLst>
          </p:cNvPr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EFDCD9F-3108-9073-608A-6932D3869930}"/>
              </a:ext>
            </a:extLst>
          </p:cNvPr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137C980-A9E6-7EC6-A600-2E8290914253}"/>
              </a:ext>
            </a:extLst>
          </p:cNvPr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45BEA26-C8AE-6F62-B216-99B9DE8E25BA}"/>
              </a:ext>
            </a:extLst>
          </p:cNvPr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18C930C-D765-F27A-C61D-0A466A531A20}"/>
              </a:ext>
            </a:extLst>
          </p:cNvPr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0F555F-E1FF-4F6D-B62C-CA76E332650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EA91BA-EB60-FF69-9495-9D82DAF115D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890D39-DE7A-0352-9648-7398BEBCFECC}"/>
              </a:ext>
            </a:extLst>
          </p:cNvPr>
          <p:cNvSpPr txBox="1"/>
          <p:nvPr/>
        </p:nvSpPr>
        <p:spPr>
          <a:xfrm>
            <a:off x="6096000" y="336699"/>
            <a:ext cx="5555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F8348E-EBB1-D052-7E26-076B0CAEBFD3}"/>
              </a:ext>
            </a:extLst>
          </p:cNvPr>
          <p:cNvSpPr txBox="1"/>
          <p:nvPr/>
        </p:nvSpPr>
        <p:spPr>
          <a:xfrm>
            <a:off x="1319492" y="2057400"/>
            <a:ext cx="15649017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practical framework for comparing virtualized and traditional cloud gaming infrastructure.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evaluates both environments using important gaming and resource performance metrics.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helps convert collected performance data into meaningful insights.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comparative dashboard makes the results easier to understand and evaluate.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cloud infrastructure choices can influence cloud gaming performance.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F36951-76D6-DE5C-6D14-6642C3D675B5}"/>
              </a:ext>
            </a:extLst>
          </p:cNvPr>
          <p:cNvSpPr txBox="1"/>
          <p:nvPr/>
        </p:nvSpPr>
        <p:spPr>
          <a:xfrm>
            <a:off x="16611600" y="960795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-13</a:t>
            </a:r>
          </a:p>
        </p:txBody>
      </p:sp>
    </p:spTree>
    <p:extLst>
      <p:ext uri="{BB962C8B-B14F-4D97-AF65-F5344CB8AC3E}">
        <p14:creationId xmlns:p14="http://schemas.microsoft.com/office/powerpoint/2010/main" val="3291959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079F2-822F-BD15-81DE-0878EDFBA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27C2E5-848E-E062-6412-B50B72528B4C}"/>
              </a:ext>
            </a:extLst>
          </p:cNvPr>
          <p:cNvSpPr/>
          <p:nvPr/>
        </p:nvSpPr>
        <p:spPr>
          <a:xfrm>
            <a:off x="5669011" y="9511884"/>
            <a:ext cx="7315200" cy="109728"/>
          </a:xfrm>
          <a:custGeom>
            <a:avLst/>
            <a:gdLst/>
            <a:ahLst/>
            <a:cxnLst/>
            <a:rect l="l" t="t" r="r" b="b"/>
            <a:pathLst>
              <a:path w="7315200" h="109728">
                <a:moveTo>
                  <a:pt x="0" y="0"/>
                </a:moveTo>
                <a:lnTo>
                  <a:pt x="7315200" y="0"/>
                </a:lnTo>
                <a:lnTo>
                  <a:pt x="7315200" y="109728"/>
                </a:ln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AF7E581-0BE2-2D89-0080-0572CE1CD120}"/>
              </a:ext>
            </a:extLst>
          </p:cNvPr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44E3581-4FAC-D92F-BEF5-0D40A24A9BF2}"/>
              </a:ext>
            </a:extLst>
          </p:cNvPr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C27FBA2-4EF0-1BA2-869C-D10F97D0A645}"/>
              </a:ext>
            </a:extLst>
          </p:cNvPr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4E81F77-9D44-5777-74D1-CD3C12176845}"/>
              </a:ext>
            </a:extLst>
          </p:cNvPr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9CCA70-B180-CC2A-3591-43FD9A5ADAF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5804" y="336699"/>
            <a:ext cx="1597017" cy="1454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54D366-6937-1099-7D4C-AFD46C43973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328856" y="499507"/>
            <a:ext cx="1162684" cy="1279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4959A7-0017-9AE5-40B5-C7CB4D3DAF1C}"/>
              </a:ext>
            </a:extLst>
          </p:cNvPr>
          <p:cNvSpPr txBox="1"/>
          <p:nvPr/>
        </p:nvSpPr>
        <p:spPr>
          <a:xfrm>
            <a:off x="6096000" y="336699"/>
            <a:ext cx="5555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A31B3-94D4-70D3-B1AD-A1729A58593F}"/>
              </a:ext>
            </a:extLst>
          </p:cNvPr>
          <p:cNvSpPr txBox="1"/>
          <p:nvPr/>
        </p:nvSpPr>
        <p:spPr>
          <a:xfrm>
            <a:off x="1500561" y="2200123"/>
            <a:ext cx="1540963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2400" b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Gegout, A., Mvondo, D., Frey, D., &amp; Monchon, P. (2025, June). Towards an Efficient Containerized Cloud Gaming Platform. In 2025 IEEE International Parallel and Distributed Processing Symposium Workshops (IPDPSW) (pp. 78-86). IEEE.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Lyu, M., Madanapalli, S. C., Vishwanath, A., &amp; Sivaraman, V. (2024, March). Network anatomy and real-time measurement of nvidia geforce now cloud gaming. In International Conference on Passive and Active Network Measurement (pp. 61-91). Cham: Springer Nature Switzerland.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Tanveer, J., Abbas, S. K., Hasan, M. Z., Hussain, M. Z., Khalid, A., Ahmad, A., ... &amp; Ali, Z. (2024, November). Advancing Cloud Gaming: Addressing Latency Challenges through Research and Innovative Solutions. In 2024 2nd International Conference on Advances in Computation, Communication and Information Technology (ICAICCIT) (Vol. 1, pp. 1284-1289). IEEE.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Oliveira, S. S., Souza, C. H. R., Silva, J. C., &amp; Carvalho, S. T. (2023, November). Towards scalable cloud gaming systems: Decoupling physics from the game engine. In Proceedings of the 22nd Brazilian Symposium on Games and Digital Entertainment (pp. 151-160).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Baloni, D., Bhatt, C., Kumar, S., Patel, P., &amp; Singh, T. (2023, November). The Evolution of Virtualization and Cloud Computing in the Modern Computer Era. In 2023 International Conference on Communication, Security and Artificial Intelligence (ICCSAI) (pp. 625-630). IEEE.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Lambropoulos, G., Mitropoulos, S., &amp; Douligeris, C. (2026). Emerging technologies in financial services: From virtualization and cloud infrastructures to edge computing applications. Computers, 15(1), 41.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B276EC-B344-962C-B498-26392D29EE05}"/>
              </a:ext>
            </a:extLst>
          </p:cNvPr>
          <p:cNvSpPr txBox="1"/>
          <p:nvPr/>
        </p:nvSpPr>
        <p:spPr>
          <a:xfrm>
            <a:off x="16611600" y="960795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 -14</a:t>
            </a:r>
          </a:p>
        </p:txBody>
      </p:sp>
    </p:spTree>
    <p:extLst>
      <p:ext uri="{BB962C8B-B14F-4D97-AF65-F5344CB8AC3E}">
        <p14:creationId xmlns:p14="http://schemas.microsoft.com/office/powerpoint/2010/main" val="285927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B154B-8140-A166-33F0-DF3C1A0AA753}"/>
              </a:ext>
            </a:extLst>
          </p:cNvPr>
          <p:cNvSpPr txBox="1"/>
          <p:nvPr/>
        </p:nvSpPr>
        <p:spPr>
          <a:xfrm>
            <a:off x="3652721" y="3695700"/>
            <a:ext cx="1098255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1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8C432-2166-F788-C53F-B3DDEB65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29D3650-946E-6C07-5E09-DB2249F71E46}"/>
              </a:ext>
            </a:extLst>
          </p:cNvPr>
          <p:cNvSpPr/>
          <p:nvPr/>
        </p:nvSpPr>
        <p:spPr>
          <a:xfrm>
            <a:off x="0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0"/>
                </a:moveTo>
                <a:lnTo>
                  <a:pt x="4094226" y="0"/>
                </a:lnTo>
                <a:lnTo>
                  <a:pt x="40942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5E9C025-6E0C-607B-6B04-623F5615366A}"/>
              </a:ext>
            </a:extLst>
          </p:cNvPr>
          <p:cNvSpPr/>
          <p:nvPr/>
        </p:nvSpPr>
        <p:spPr>
          <a:xfrm flipH="1">
            <a:off x="14193774" y="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0"/>
                </a:moveTo>
                <a:lnTo>
                  <a:pt x="0" y="0"/>
                </a:lnTo>
                <a:lnTo>
                  <a:pt x="0" y="4114800"/>
                </a:lnTo>
                <a:lnTo>
                  <a:pt x="4094226" y="4114800"/>
                </a:lnTo>
                <a:lnTo>
                  <a:pt x="409422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6A003AD-2F3B-197A-20D4-901497140DCA}"/>
              </a:ext>
            </a:extLst>
          </p:cNvPr>
          <p:cNvSpPr/>
          <p:nvPr/>
        </p:nvSpPr>
        <p:spPr>
          <a:xfrm flipV="1">
            <a:off x="0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0" y="4114800"/>
                </a:moveTo>
                <a:lnTo>
                  <a:pt x="4094226" y="4114800"/>
                </a:lnTo>
                <a:lnTo>
                  <a:pt x="409422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EE1AFC9-F37B-1F49-AC5E-134B406601F1}"/>
              </a:ext>
            </a:extLst>
          </p:cNvPr>
          <p:cNvSpPr/>
          <p:nvPr/>
        </p:nvSpPr>
        <p:spPr>
          <a:xfrm flipH="1" flipV="1">
            <a:off x="14193774" y="6172200"/>
            <a:ext cx="4094226" cy="4114800"/>
          </a:xfrm>
          <a:custGeom>
            <a:avLst/>
            <a:gdLst/>
            <a:ahLst/>
            <a:cxnLst/>
            <a:rect l="l" t="t" r="r" b="b"/>
            <a:pathLst>
              <a:path w="4094226" h="4114800">
                <a:moveTo>
                  <a:pt x="4094226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94226" y="0"/>
                </a:lnTo>
                <a:lnTo>
                  <a:pt x="4094226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900FD-E1B8-8FA3-A046-00314D2AB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57150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0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1158</Words>
  <Application>Microsoft Office PowerPoint</Application>
  <PresentationFormat>Custom</PresentationFormat>
  <Paragraphs>136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Aptos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</dc:title>
  <dc:creator>Sakshi</dc:creator>
  <cp:lastModifiedBy>Juhi Sakshi</cp:lastModifiedBy>
  <cp:revision>9</cp:revision>
  <dcterms:created xsi:type="dcterms:W3CDTF">2006-08-16T00:00:00Z</dcterms:created>
  <dcterms:modified xsi:type="dcterms:W3CDTF">2026-08-27T05:45:59Z</dcterms:modified>
  <dc:identifier>DAHRhpAl1Pg</dc:identifier>
</cp:coreProperties>
</file>